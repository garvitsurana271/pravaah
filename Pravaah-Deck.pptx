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AA0FF"/>
                </a:solidFill>
                <a:latin typeface="Consolas"/>
              </a:rPr>
              <a:t>FAR AWAY 2026   ·   RAILWAYS</a:t>
            </a:r>
          </a:p>
          <a:p>
            <a:pPr algn="l">
              <a:spcAft>
                <a:spcPts val="400"/>
              </a:spcAft>
            </a:pPr>
            <a:r>
              <a:rPr sz="6000" b="1">
                <a:solidFill>
                  <a:srgbClr val="E9F0FA"/>
                </a:solidFill>
                <a:latin typeface="Segoe UI"/>
              </a:rPr>
              <a:t>PRAVAAH  प्रवाह</a:t>
            </a:r>
          </a:p>
          <a:p>
            <a:pPr algn="l">
              <a:spcAft>
                <a:spcPts val="1600"/>
              </a:spcAft>
            </a:pPr>
            <a:r>
              <a:rPr sz="3000" b="1">
                <a:solidFill>
                  <a:srgbClr val="22D37A"/>
                </a:solidFill>
                <a:latin typeface="Segoe UI"/>
              </a:rPr>
              <a:t>The Glass-Box Dispatcher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9AB0CF"/>
                </a:solidFill>
                <a:latin typeface="Segoe UI"/>
              </a:rPr>
              <a:t>An open, explainable AI co-pilot for the Indian Railways section controller.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B0CF"/>
                </a:solidFill>
                <a:latin typeface="Consolas"/>
              </a:rPr>
              <a:t>Live: garvitsurana271.github.io/pravaah   ·   Code: github.com/garvitsurana271/pravaah   ·   Garvit Surana &amp;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4D4D"/>
                </a:solidFill>
                <a:latin typeface="Consolas"/>
              </a:rPr>
              <a:t>THE PROBLEM,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9F0FA"/>
                </a:solidFill>
                <a:latin typeface="Segoe UI"/>
              </a:rPr>
              <a:t>A signalling failure put two trains on one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9F0FA"/>
                </a:solidFill>
                <a:latin typeface="Segoe UI"/>
              </a:rPr>
              <a:t>2 June 2023. A wrongly-wired circuit sent the Coromandel Express onto an occupied loop line at 128 km/h near Bahanaga Bazar, Balasore.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4D4D"/>
                </a:solidFill>
                <a:latin typeface="Segoe UI"/>
              </a:rPr>
              <a:t>Close to 300 people died. The line had no Kavach.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9AB0CF"/>
                </a:solidFill>
                <a:latin typeface="Segoe UI"/>
              </a:rPr>
              <a:t>A year later a goods train ran a red signal and killed ten more on the Kanchanjunga Express. Again, no Kavach.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B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B02E"/>
                </a:solidFill>
                <a:latin typeface="Consolas"/>
              </a:rPr>
              <a:t>THE PROBLEM,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9F0FA"/>
                </a:solidFill>
                <a:latin typeface="Segoe UI"/>
              </a:rPr>
              <a:t>Indian Railways still dispatches by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9F0FA"/>
                </a:solidFill>
                <a:latin typeface="Segoe UI"/>
              </a:rPr>
              <a:t>A human section controller decides every crossing and every precedence call from experience.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9AB0CF"/>
                </a:solidFill>
                <a:latin typeface="Segoe UI"/>
              </a:rPr>
              <a:t>The control-room software draws charts and shows where trains are. It does not make the decision.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B02E"/>
                </a:solidFill>
                <a:latin typeface="Segoe UI"/>
              </a:rPr>
              <a:t>Punctuality fell from 94% to about 74% in three years.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FFB02E"/>
                </a:solidFill>
                <a:latin typeface="Segoe UI"/>
              </a:rPr>
              <a:t>Most of the busiest corridors now run above their rated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7A"/>
                </a:solidFill>
                <a:latin typeface="Consolas"/>
              </a:rPr>
              <a:t>THE GAP WE FILL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9F0FA"/>
                </a:solidFill>
                <a:latin typeface="Segoe UI"/>
              </a:rPr>
              <a:t>Closed systems that cost crores, or nothing at 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E9F0FA"/>
                </a:solidFill>
                <a:latin typeface="Segoe UI"/>
              </a:rPr>
              <a:t>Hitachi, Siemens and Alstom sell AI traffic management as closed systems above a thousand crore, and even those stay advisory because controllers do not trust a black box.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D37A"/>
                </a:solidFill>
                <a:latin typeface="Segoe UI"/>
              </a:rPr>
              <a:t>There is no open, India-specific, explainable tool for this.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9AB0CF"/>
                </a:solidFill>
                <a:latin typeface="Segoe UI"/>
              </a:rPr>
              <a:t>Our contribution is the combination, not the math: open, explainable, India-specific, with safety as a hard floor.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9AB0CF"/>
                </a:solidFill>
                <a:latin typeface="Segoe UI"/>
              </a:rPr>
              <a:t>We did not use reinforcement learning on purpose. The evidence (the Flatland challenge) shows classical optimization beats it and RL has never been deployed.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7A"/>
                </a:solidFill>
                <a:latin typeface="Consolas"/>
              </a:rPr>
              <a:t>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9F0FA"/>
                </a:solidFill>
                <a:latin typeface="Segoe UI"/>
              </a:rPr>
              <a:t>A live control room for one busy section</a:t>
            </a:r>
          </a:p>
        </p:txBody>
      </p:sp>
      <p:pic>
        <p:nvPicPr>
          <p:cNvPr id="5" name="Picture 4" descr="control-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109728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B0CF"/>
                </a:solidFill>
                <a:latin typeface="Consolas"/>
              </a:rPr>
              <a:t>Two dispatchers run on the same trains: the AI optimizer, and first-come-first-served, which is how it is done today.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7A"/>
                </a:solidFill>
                <a:latin typeface="Consolas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9F0FA"/>
                </a:solidFill>
                <a:latin typeface="Segoe UI"/>
              </a:rPr>
              <a:t>Switch the AI off and the delay climbs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E9F0FA"/>
                </a:solidFill>
                <a:latin typeface="Segoe UI"/>
              </a:rPr>
              <a:t>Same trains, same track. The optimizer keeps total delay down by setting smart precedence at each crossing.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2D37A"/>
                </a:solidFill>
                <a:latin typeface="Segoe UI"/>
              </a:rPr>
              <a:t>About 20% less delay than the manual first-come-first-served baseline.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9AB0CF"/>
                </a:solidFill>
                <a:latin typeface="Segoe UI"/>
              </a:rPr>
              <a:t>It does not move more trains. It protects the important ones, spending a goods train's minutes to save a Superfast's.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9AB0CF"/>
                </a:solidFill>
                <a:latin typeface="Segoe UI"/>
              </a:rPr>
              <a:t>13 conflicts resolved automatically, zero unsafe states. Measured by the test 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7A"/>
                </a:solidFill>
                <a:latin typeface="Consolas"/>
              </a:rPr>
              <a:t>WHAT MAKES IT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9F0FA"/>
                </a:solidFill>
                <a:latin typeface="Segoe UI"/>
              </a:rPr>
              <a:t>It explains every call in plain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9F0FA"/>
                </a:solidFill>
                <a:latin typeface="Segoe UI"/>
              </a:rPr>
              <a:t>Every decision is the optimizer's own working, written out. Nothing is invented.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D37A"/>
                </a:solidFill>
                <a:latin typeface="Segoe UI"/>
              </a:rPr>
              <a:t>"Held the Express 11 min so the Superfast could cross. Reversing it would cost 1.7 times more."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9AB0CF"/>
                </a:solidFill>
                <a:latin typeface="Segoe UI"/>
              </a:rPr>
              <a:t>This answers why AI dispatching is not adopted today: controllers do not trust black boxes.</a:t>
            </a:r>
          </a:p>
        </p:txBody>
      </p:sp>
      <p:pic>
        <p:nvPicPr>
          <p:cNvPr id="6" name="Picture 5" descr="glass-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12563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7A"/>
                </a:solidFill>
                <a:latin typeface="Consolas"/>
              </a:rPr>
              <a:t>YOU CAN QUESTION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9F0FA"/>
                </a:solidFill>
                <a:latin typeface="Segoe UI"/>
              </a:rPr>
              <a:t>Ask the dispatcher anything, offline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9F0FA"/>
                </a:solidFill>
                <a:latin typeface="Segoe UI"/>
              </a:rPr>
              <a:t>"Why is 12801 held?"  "Is the section safe?"  "What would an override cost?"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9AB0CF"/>
                </a:solidFill>
                <a:latin typeface="Segoe UI"/>
              </a:rPr>
              <a:t>Answers come from the same decision trace. No network call, so the demo cannot break.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9AB0CF"/>
                </a:solidFill>
                <a:latin typeface="Segoe UI"/>
              </a:rPr>
              <a:t>The controller stays in charge. The machine just shows the cost of each choice.</a:t>
            </a:r>
          </a:p>
        </p:txBody>
      </p:sp>
      <p:pic>
        <p:nvPicPr>
          <p:cNvPr id="6" name="Picture 5" descr="glass-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486400" cy="12563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4D4D"/>
                </a:solidFill>
                <a:latin typeface="Consolas"/>
              </a:rPr>
              <a:t>THE SAFETY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E9F0FA"/>
                </a:solidFill>
                <a:latin typeface="Segoe UI"/>
              </a:rPr>
              <a:t>It cannot cause a collision,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E9F0FA"/>
                </a:solidFill>
                <a:latin typeface="Segoe UI"/>
              </a:rPr>
              <a:t>A separate interlocking layer enforces one train per block and locks single lines to one direction, no matter what the AI does.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FF4D4D"/>
                </a:solidFill>
                <a:latin typeface="Segoe UI"/>
              </a:rPr>
              <a:t>Re-stage the Balasore failure: a route set toward an occupied line is refused.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9AB0CF"/>
                </a:solidFill>
                <a:latin typeface="Segoe UI"/>
              </a:rPr>
              <a:t>Safety is a hard floor. The AI only optimizes inside what is already safe.</a:t>
            </a:r>
          </a:p>
        </p:txBody>
      </p:sp>
      <p:pic>
        <p:nvPicPr>
          <p:cNvPr id="6" name="Picture 5" descr="safety-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7A"/>
                </a:solidFill>
                <a:latin typeface="Consolas"/>
              </a:rPr>
              <a:t>HOW REAL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9F0FA"/>
                </a:solidFill>
                <a:latin typeface="Segoe UI"/>
              </a:rPr>
              <a:t>Real stations, real trains, honest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D37A"/>
                </a:solidFill>
                <a:latin typeface="Segoe UI"/>
              </a:rPr>
              <a:t>The national map is 8,697 real Indian stations with real coordinates, from the open datameet dataset.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E9F0FA"/>
                </a:solidFill>
                <a:latin typeface="Segoe UI"/>
              </a:rPr>
              <a:t>The trains are real services that run this corridor, pulled from the open timetable.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9AB0CF"/>
                </a:solidFill>
                <a:latin typeface="Segoe UI"/>
              </a:rPr>
              <a:t>Live movement is simulated. India has no open real-time feed, so nobody can do live positions without faking them.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9AB0CF"/>
                </a:solidFill>
                <a:latin typeface="Segoe UI"/>
              </a:rPr>
              <a:t>The engine is built to sit on a real feed the day a railway grants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A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7A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9F0FA"/>
                </a:solidFill>
                <a:latin typeface="Segoe UI"/>
              </a:rPr>
              <a:t>Two layers, kept separate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2D37A"/>
                </a:solidFill>
                <a:latin typeface="Segoe UI"/>
              </a:rPr>
              <a:t>Interlocking (safety): one train per block, single lines locked to one direction. Unsafe states are impossible here, in code.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3AA0FF"/>
                </a:solidFill>
                <a:latin typeface="Segoe UI"/>
              </a:rPr>
              <a:t>Dispatcher (policy): the AI only picks the order among options that are already safe, and writes down a full trace.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E9F0FA"/>
                </a:solidFill>
                <a:latin typeface="Segoe UI"/>
              </a:rPr>
              <a:t>Explanation engine: turns that trace into plain English, grounded in real numbers.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9AB0CF"/>
                </a:solidFill>
                <a:latin typeface="Segoe UI"/>
              </a:rPr>
              <a:t>Pure TypeScript, 100% in the browser, no backend, no API keys, 12 passing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22D37A"/>
                </a:solidFill>
                <a:latin typeface="Consolas"/>
              </a:rPr>
              <a:t>IT ANSWERS A REAL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E9F0FA"/>
                </a:solidFill>
                <a:latin typeface="Segoe UI"/>
              </a:rPr>
              <a:t>The Ministry's own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>
                <a:solidFill>
                  <a:srgbClr val="22D37A"/>
                </a:solidFill>
                <a:latin typeface="Segoe UI"/>
              </a:rPr>
              <a:t>SIH25022, Ministry of Railways: "Maximizing section throughput through AI-powered, real-time train traffic control."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E9F0FA"/>
                </a:solidFill>
                <a:latin typeface="Segoe UI"/>
              </a:rPr>
              <a:t>It sits alongside Kavach, not against it. Kavach is the safety-certified anti-collision layer. Pravaah is the throughput and explainability layer above it.</a:t>
            </a:r>
          </a:p>
          <a:p>
            <a:pPr algn="l">
              <a:spcAft>
                <a:spcPts val="1400"/>
              </a:spcAft>
            </a:pPr>
            <a:r>
              <a:rPr sz="1900" b="0">
                <a:solidFill>
                  <a:srgbClr val="9AB0CF"/>
                </a:solidFill>
                <a:latin typeface="Segoe UI"/>
              </a:rPr>
              <a:t>It is a prototype and a decision-support concept, not certified train control. We say so plainly.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2D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E9F0FA"/>
                </a:solidFill>
                <a:latin typeface="Segoe UI"/>
              </a:rPr>
              <a:t>Pravaah · प्रवाह</a:t>
            </a:r>
          </a:p>
          <a:p>
            <a:pPr algn="l">
              <a:spcAft>
                <a:spcPts val="1800"/>
              </a:spcAft>
            </a:pPr>
            <a:r>
              <a:rPr sz="2200" b="1">
                <a:solidFill>
                  <a:srgbClr val="22D37A"/>
                </a:solidFill>
                <a:latin typeface="Segoe UI"/>
              </a:rPr>
              <a:t>Open. Explainable. Safe by design. The control-room brain Indian Railways does not have yet.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9AB0CF"/>
                </a:solidFill>
                <a:latin typeface="Segoe UI"/>
              </a:rPr>
              <a:t>Try it live, then read the code. Both links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9AB0CF"/>
                </a:solidFill>
                <a:latin typeface="Consolas"/>
              </a:rPr>
              <a:t>garvitsurana271.github.io/pravaah   ·   github.com/garvitsurana271/pravaah   ·   FAR AWAY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