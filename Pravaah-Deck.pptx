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3AA0FF"/>
                </a:solidFill>
                <a:latin typeface="Consolas"/>
              </a:rPr>
              <a:t>FAR AWAY 2026   ·   RAILWAYS</a:t>
            </a:r>
          </a:p>
          <a:p>
            <a:pPr algn="l">
              <a:spcAft>
                <a:spcPts val="200"/>
              </a:spcAft>
            </a:pPr>
            <a:r>
              <a:rPr sz="6600" b="1">
                <a:solidFill>
                  <a:srgbClr val="ECF2FB"/>
                </a:solidFill>
                <a:latin typeface="Segoe UI Semibold"/>
              </a:rPr>
              <a:t>PRAVAAH</a:t>
            </a:r>
          </a:p>
          <a:p>
            <a:pPr algn="l">
              <a:spcAft>
                <a:spcPts val="1400"/>
              </a:spcAft>
            </a:pPr>
            <a:r>
              <a:rPr sz="2800" b="1">
                <a:solidFill>
                  <a:srgbClr val="22D37A"/>
                </a:solidFill>
                <a:latin typeface="Segoe UI Semibold"/>
              </a:rPr>
              <a:t>The Glass-Box Dispatcher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B0CF"/>
                </a:solidFill>
                <a:latin typeface="Segoe UI Semibold"/>
              </a:rPr>
              <a:t>An open, explainable AI co-pilot for the Indian Railways section controller. Live and working.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0">
                <a:solidFill>
                  <a:srgbClr val="9AB0CF"/>
                </a:solidFill>
                <a:latin typeface="Consolas"/>
              </a:rPr>
              <a:t>LIVE  garvitsurana271.github.io/pravaah      CODE  github.com/garvitsurana271/pravaah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rol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303" y="566928"/>
            <a:ext cx="8705088" cy="5440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828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3AA0FF"/>
                </a:solidFill>
                <a:latin typeface="Consolas"/>
              </a:rPr>
              <a:t>THIS IS REAL AND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172200"/>
            <a:ext cx="109087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>
                <a:solidFill>
                  <a:srgbClr val="ECF2FB"/>
                </a:solidFill>
                <a:latin typeface="Segoe UI Semibold"/>
              </a:rPr>
              <a:t>Two dispatchers on the same trains: an AI optimizer, and how it is done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9AB0CF"/>
                </a:solidFill>
                <a:latin typeface="Consolas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0" b="1">
                <a:solidFill>
                  <a:srgbClr val="22D37A"/>
                </a:solidFill>
                <a:latin typeface="Segoe UI Semibold"/>
              </a:rPr>
              <a:t>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ECF2FB"/>
                </a:solidFill>
                <a:latin typeface="Segoe UI Semibold"/>
              </a:rPr>
              <a:t>less delay than dispatching by 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516636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>
                <a:solidFill>
                  <a:srgbClr val="9AB0CF"/>
                </a:solidFill>
                <a:latin typeface="Segoe UI Semibold"/>
              </a:rPr>
              <a:t>Same trains, same track. The AI just sets smarter precedence at every crossing. The other dispatcher is first-come, first-served, the way it works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ass-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926" y="566928"/>
            <a:ext cx="2375842" cy="5440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828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22D37A"/>
                </a:solidFill>
                <a:latin typeface="Consolas"/>
              </a:rPr>
              <a:t>WHAT MAKES IT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172200"/>
            <a:ext cx="109087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>
                <a:solidFill>
                  <a:srgbClr val="ECF2FB"/>
                </a:solidFill>
                <a:latin typeface="Segoe UI Semibold"/>
              </a:rPr>
              <a:t>It explains every call in plain words, from the optimizer's own numbers. No black 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fety-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303" y="566928"/>
            <a:ext cx="8705088" cy="5440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828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4D4D"/>
                </a:solidFill>
                <a:latin typeface="Consolas"/>
              </a:rPr>
              <a:t>SAFE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172200"/>
            <a:ext cx="109087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>
                <a:solidFill>
                  <a:srgbClr val="ECF2FB"/>
                </a:solidFill>
                <a:latin typeface="Segoe UI Semibold"/>
              </a:rPr>
              <a:t>It refuses to cause a collision. Here it re-stages the 2 June 2023 Balasore failure and blocks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9AB0CF"/>
                </a:solidFill>
                <a:latin typeface="Consolas"/>
              </a:rPr>
              <a:t>THE SAFETY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0" b="1">
                <a:solidFill>
                  <a:srgbClr val="FF4D4D"/>
                </a:solidFill>
                <a:latin typeface="Segoe UI Semibold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ECF2FB"/>
                </a:solidFill>
                <a:latin typeface="Segoe UI Semibold"/>
              </a:rPr>
              <a:t>unsafe states, 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516636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>
                <a:solidFill>
                  <a:srgbClr val="9AB0CF"/>
                </a:solidFill>
                <a:latin typeface="Segoe UI Semibold"/>
              </a:rPr>
              <a:t>A separate interlocking layer makes a collision impossible, no matter what the AI wants. Balasore, 2023: a route like that killed nearly 300 people.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2D37A"/>
                </a:solidFill>
                <a:latin typeface="Consolas"/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ECF2FB"/>
                </a:solidFill>
                <a:latin typeface="Segoe UI Semibold"/>
              </a:rPr>
              <a:t>Closed crore-scale systems, or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070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0">
                <a:solidFill>
                  <a:srgbClr val="ECF2FB"/>
                </a:solidFill>
                <a:latin typeface="Segoe UI Semibold"/>
              </a:rPr>
              <a:t>Indian Railways still dispatches every crossing by hand. Punctuality fell from 94% to about 74% in three years.</a:t>
            </a:r>
          </a:p>
          <a:p>
            <a:pPr algn="l">
              <a:spcAft>
                <a:spcPts val="1600"/>
              </a:spcAft>
            </a:pPr>
            <a:r>
              <a:rPr sz="1900" b="0">
                <a:solidFill>
                  <a:srgbClr val="9AB0CF"/>
                </a:solidFill>
                <a:latin typeface="Segoe UI Semibold"/>
              </a:rPr>
              <a:t>The AI systems that exist (Hitachi, Siemens, Alstom) are closed, cost over a thousand crore, and stay advisory because controllers do not trust a black box.</a:t>
            </a:r>
          </a:p>
          <a:p>
            <a:pPr algn="l">
              <a:spcAft>
                <a:spcPts val="1600"/>
              </a:spcAft>
            </a:pPr>
            <a:r>
              <a:rPr sz="1900" b="0">
                <a:solidFill>
                  <a:srgbClr val="22D37A"/>
                </a:solidFill>
                <a:latin typeface="Segoe UI Semibold"/>
              </a:rPr>
              <a:t>Nothing open, explainable, and India-specific exists. That is the gap.</a:t>
            </a:r>
          </a:p>
          <a:p>
            <a:pPr algn="l">
              <a:spcAft>
                <a:spcPts val="1600"/>
              </a:spcAft>
            </a:pPr>
            <a:r>
              <a:rPr sz="1900" b="0">
                <a:solidFill>
                  <a:srgbClr val="9AB0CF"/>
                </a:solidFill>
                <a:latin typeface="Segoe UI Semibold"/>
              </a:rPr>
              <a:t>We did not use reinforcement learning, on purpose: the evidence shows classical optimization beats it and RL has never been deployed.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2D37A"/>
                </a:solidFill>
                <a:latin typeface="Consolas"/>
              </a:rPr>
              <a:t>HOW REAL, 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ECF2FB"/>
                </a:solidFill>
                <a:latin typeface="Segoe UI Semibold"/>
              </a:rPr>
              <a:t>Real data, two honest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070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0">
                <a:solidFill>
                  <a:srgbClr val="22D37A"/>
                </a:solidFill>
                <a:latin typeface="Segoe UI Semibold"/>
              </a:rPr>
              <a:t>8,697 real Indian stations and real timetabled services, from the open datameet dataset.</a:t>
            </a:r>
          </a:p>
          <a:p>
            <a:pPr algn="l">
              <a:spcAft>
                <a:spcPts val="1600"/>
              </a:spcAft>
            </a:pPr>
            <a:r>
              <a:rPr sz="1900" b="0">
                <a:solidFill>
                  <a:srgbClr val="ECF2FB"/>
                </a:solidFill>
                <a:latin typeface="Segoe UI Semibold"/>
              </a:rPr>
              <a:t>Interlocking layer: one train per block, single lines locked to one direction. Unsafe states impossible, in code.</a:t>
            </a:r>
          </a:p>
          <a:p>
            <a:pPr algn="l">
              <a:spcAft>
                <a:spcPts val="1600"/>
              </a:spcAft>
            </a:pPr>
            <a:r>
              <a:rPr sz="1900" b="0">
                <a:solidFill>
                  <a:srgbClr val="ECF2FB"/>
                </a:solidFill>
                <a:latin typeface="Segoe UI Semibold"/>
              </a:rPr>
              <a:t>Dispatcher layer: the AI only orders moves that are already safe, and writes down a full trace.</a:t>
            </a:r>
          </a:p>
          <a:p>
            <a:pPr algn="l">
              <a:spcAft>
                <a:spcPts val="1600"/>
              </a:spcAft>
            </a:pPr>
            <a:r>
              <a:rPr sz="1900" b="0">
                <a:solidFill>
                  <a:srgbClr val="9AB0CF"/>
                </a:solidFill>
                <a:latin typeface="Segoe UI Semibold"/>
              </a:rPr>
              <a:t>Pure TypeScript, runs in the browser, 12 passing tests. Movement is simulated; India has no open live feed, and the engine is built to take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CF2FB"/>
                </a:solidFill>
                <a:latin typeface="Segoe UI Semibold"/>
              </a:rPr>
              <a:t>Open. Explainable. Safe by design.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22D37A"/>
                </a:solidFill>
                <a:latin typeface="Segoe UI Semibold"/>
              </a:rPr>
              <a:t>The control-room brain Indian Railways does not have yet. Answers problem statement SIH25022.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9AB0CF"/>
                </a:solidFill>
                <a:latin typeface="Segoe UI Semibold"/>
              </a:rPr>
              <a:t>Try it live, then read the code.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0">
                <a:solidFill>
                  <a:srgbClr val="9AB0CF"/>
                </a:solidFill>
                <a:latin typeface="Consolas"/>
              </a:rPr>
              <a:t>LIVE  garvitsurana271.github.io/pravaah      CODE  github.com/garvitsurana271/pravaah      FAR AWAY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