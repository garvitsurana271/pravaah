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3AA0FF"/>
                </a:solidFill>
                <a:latin typeface="Consolas"/>
              </a:rPr>
              <a:t>FAR AWAY · 2026   ·   RAILWAYS</a:t>
            </a:r>
          </a:p>
          <a:p>
            <a:pPr algn="l">
              <a:spcAft>
                <a:spcPts val="400"/>
              </a:spcAft>
            </a:pPr>
            <a:r>
              <a:rPr sz="6000" b="1">
                <a:solidFill>
                  <a:srgbClr val="E9F0FA"/>
                </a:solidFill>
                <a:latin typeface="Segoe UI"/>
              </a:rPr>
              <a:t>PRAVAAH  प्रवाह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2D37A"/>
                </a:solidFill>
                <a:latin typeface="Segoe UI"/>
              </a:rPr>
              <a:t>The Glass-Box Dispatcher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9AB0CF"/>
                </a:solidFill>
                <a:latin typeface="Segoe UI"/>
              </a:rPr>
              <a:t>An open, explainable, real-time AI train re-dispatch copilot for the Indian Railways section controller.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B0CF"/>
                </a:solidFill>
                <a:latin typeface="Consolas"/>
              </a:rPr>
              <a:t>github.com/garvitsurana271/pravaah   ·   maps to SIH25022   ·   Garvit Surana &amp;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4D4D"/>
                </a:solidFill>
                <a:latin typeface="Consolas"/>
              </a:rPr>
              <a:t>THE PROBLEM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9F0FA"/>
                </a:solidFill>
                <a:latin typeface="Segoe UI"/>
              </a:rPr>
              <a:t>The next Balasore shouldn't depend on one tired controller's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9F0FA"/>
                </a:solidFill>
                <a:latin typeface="Segoe UI"/>
              </a:rPr>
              <a:t>2 June 2023 — a single mis-wired signalling circuit sent the Coromandel Express onto an occupied loop line at 128 km/h near Bahanaga Bazar, Balasore.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FF4D4D"/>
                </a:solidFill>
                <a:latin typeface="Segoe UI"/>
              </a:rPr>
              <a:t>~300 dead. The line had no Kavach.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9AB0CF"/>
                </a:solidFill>
                <a:latin typeface="Segoe UI"/>
              </a:rPr>
              <a:t>June 2024 — a goods train ran a red signal (SPAD) and killed ten more on the Kanchanjunga Express. Again, no Kavach.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B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B02E"/>
                </a:solidFill>
                <a:latin typeface="Consolas"/>
              </a:rPr>
              <a:t>THE PROBLEM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9F0FA"/>
                </a:solidFill>
                <a:latin typeface="Segoe UI"/>
              </a:rPr>
              <a:t>Indian Railways dispatches every train by 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9F0FA"/>
                </a:solidFill>
                <a:latin typeface="Segoe UI"/>
              </a:rPr>
              <a:t>A human section controller decides every crossing and precedence call from experience.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9AB0CF"/>
                </a:solidFill>
                <a:latin typeface="Segoe UI"/>
              </a:rPr>
              <a:t>Control-room software (COA, ICMS, NTES) charts and monitors — it does not optimise.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FFB02E"/>
                </a:solidFill>
                <a:latin typeface="Segoe UI"/>
              </a:rPr>
              <a:t>Punctuality fell 94% (FY20-21) → 73.6% (FY23-24).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FFB02E"/>
                </a:solidFill>
                <a:latin typeface="Segoe UI"/>
              </a:rPr>
              <a:t>Over 80% of the busiest corridors run above capacity.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THE GAP = OUR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9F0FA"/>
                </a:solidFill>
                <a:latin typeface="Segoe UI"/>
              </a:rPr>
              <a:t>Proprietary ₹1000-crore black boxes — or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E9F0FA"/>
                </a:solidFill>
                <a:latin typeface="Segoe UI"/>
              </a:rPr>
              <a:t>Hitachi / Siemens / Alstom sell closed, crore-scale traffic-management systems — and even those stay advisory, because controllers don't trust black boxes.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2D37A"/>
                </a:solidFill>
                <a:latin typeface="Segoe UI"/>
              </a:rPr>
              <a:t>There is NO open, India-specific, explainable tool for this.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9AB0CF"/>
                </a:solidFill>
                <a:latin typeface="Segoe UI"/>
              </a:rPr>
              <a:t>Pravaah's novelty is the stack: open + explainable + India + real-time recovery — not the underlying operations-research.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9AB0CF"/>
                </a:solidFill>
                <a:latin typeface="Segoe UI"/>
              </a:rPr>
              <a:t>We deliberately avoided RL-for-dispatching: the Flatland challenge showed classical OR beats it, and it has never deployed.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9F0FA"/>
                </a:solidFill>
                <a:latin typeface="Segoe UI"/>
              </a:rPr>
              <a:t>A live control room for one congested section</a:t>
            </a:r>
          </a:p>
        </p:txBody>
      </p:sp>
      <p:pic>
        <p:nvPicPr>
          <p:cNvPr id="5" name="Picture 4" descr="control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1097280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B0CF"/>
                </a:solidFill>
                <a:latin typeface="Consolas"/>
              </a:rPr>
              <a:t>Two brains run side-by-side on the same scenario: the AI optimizer and the manual first-come-first-served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RESULT ·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9F0FA"/>
                </a:solidFill>
                <a:latin typeface="Segoe UI"/>
              </a:rPr>
              <a:t>Flip the optimizer off — watch the delay jump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9F0FA"/>
                </a:solidFill>
                <a:latin typeface="Segoe UI"/>
              </a:rPr>
              <a:t>Same eight trains, same track. The optimizer minimises Σ (delay × priority-weight).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22D37A"/>
                </a:solidFill>
                <a:latin typeface="Segoe UI"/>
              </a:rPr>
              <a:t>–20% weighted delay vs. the manual FCFS baseline.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9AB0CF"/>
                </a:solidFill>
                <a:latin typeface="Segoe UI"/>
              </a:rPr>
              <a:t>It doesn't move more trains — it protects the premier ones, spending a goods rake's minutes to save a Superfast's.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9AB0CF"/>
                </a:solidFill>
                <a:latin typeface="Segoe UI"/>
              </a:rPr>
              <a:t>13 conflicts auto-resolved. 0 unsafe states. (measured by the test suite)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E9F0FA"/>
                </a:solidFill>
                <a:latin typeface="Segoe UI"/>
              </a:rPr>
              <a:t>It explains every call — in plain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E9F0FA"/>
                </a:solidFill>
                <a:latin typeface="Segoe UI"/>
              </a:rPr>
              <a:t>Every decision is the solver's own trace, rendered as auditable reasoning — never invented.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D37A"/>
                </a:solidFill>
                <a:latin typeface="Segoe UI"/>
              </a:rPr>
              <a:t>“Held 18045 (Express, ×3) so the Superfast could cross — reversing would cost 1.7× more.”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9AB0CF"/>
                </a:solidFill>
                <a:latin typeface="Segoe UI"/>
              </a:rPr>
              <a:t>This directly answers why AI dispatching isn't adopted: black-box distrust.</a:t>
            </a:r>
          </a:p>
        </p:txBody>
      </p:sp>
      <p:pic>
        <p:nvPicPr>
          <p:cNvPr id="6" name="Picture 5" descr="glass-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486400" cy="12563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INTERROGATE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E9F0FA"/>
                </a:solidFill>
                <a:latin typeface="Segoe UI"/>
              </a:rPr>
              <a:t>Ask the dispatcher anything — offline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E9F0FA"/>
                </a:solidFill>
                <a:latin typeface="Segoe UI"/>
              </a:rPr>
              <a:t>“Why is 12841 held?”  “Is the section safe?”  “What's the cost of overriding?”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9AB0CF"/>
                </a:solidFill>
                <a:latin typeface="Segoe UI"/>
              </a:rPr>
              <a:t>Grounded in the same decision trace. No network call — the demo cannot break.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9AB0CF"/>
                </a:solidFill>
                <a:latin typeface="Segoe UI"/>
              </a:rPr>
              <a:t>The controller stays in command; the machine just shows the cost of each choice.</a:t>
            </a:r>
          </a:p>
        </p:txBody>
      </p:sp>
      <p:pic>
        <p:nvPicPr>
          <p:cNvPr id="6" name="Picture 5" descr="glass-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486400" cy="125638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4D4D"/>
                </a:solidFill>
                <a:latin typeface="Consolas"/>
              </a:rPr>
              <a:t>THE SAFETY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E9F0FA"/>
                </a:solidFill>
                <a:latin typeface="Segoe UI"/>
              </a:rPr>
              <a:t>Unsafe states are impossible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E9F0FA"/>
                </a:solidFill>
                <a:latin typeface="Segoe UI"/>
              </a:rPr>
              <a:t>A separate interlocking layer enforces one-train-per-block and single-line direction-locks — independent of any AI policy.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4D4D"/>
                </a:solidFill>
                <a:latin typeface="Segoe UI"/>
              </a:rPr>
              <a:t>Re-stage the Balasore failure: a route mis-set toward an occupied line is REFUSED.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9AB0CF"/>
                </a:solidFill>
                <a:latin typeface="Segoe UI"/>
              </a:rPr>
              <a:t>Safety is a hard invariant; the AI only optimises within the safe envelope.</a:t>
            </a:r>
          </a:p>
        </p:txBody>
      </p:sp>
      <p:pic>
        <p:nvPicPr>
          <p:cNvPr id="6" name="Picture 5" descr="safety-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54480"/>
            <a:ext cx="5577840" cy="34861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9F0FA"/>
                </a:solidFill>
                <a:latin typeface="Segoe UI"/>
              </a:rPr>
              <a:t>Two separated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22D37A"/>
                </a:solidFill>
                <a:latin typeface="Segoe UI"/>
              </a:rPr>
              <a:t>INTERLOCKING (safety) — one train per block · single-line direction-lock · loop limits. Unsafe = impossible.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3AA0FF"/>
                </a:solidFill>
                <a:latin typeface="Segoe UI"/>
              </a:rPr>
              <a:t>DISPATCHER (policy) — OPTIMIZER vs FCFS; minimises weighted delay; emits a decision trace.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9F0FA"/>
                </a:solidFill>
                <a:latin typeface="Segoe UI"/>
              </a:rPr>
              <a:t>GLASS-BOX ENGINE — turns that trace into plain language + answers questions.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9AB0CF"/>
                </a:solidFill>
                <a:latin typeface="Segoe UI"/>
              </a:rPr>
              <a:t>Deterministic, tick-based, pure TypeScript. 100% client-side — no backend, no API keys.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VALIDATED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9F0FA"/>
                </a:solidFill>
                <a:latin typeface="Segoe UI"/>
              </a:rPr>
              <a:t>We built the Ministry's own flagship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9AB0CF"/>
                </a:solidFill>
                <a:latin typeface="Segoe UI"/>
              </a:rPr>
              <a:t>SIH25022 (Smart India Hackathon, Ministry of Railways):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22D37A"/>
                </a:solidFill>
                <a:latin typeface="Segoe UI"/>
              </a:rPr>
              <a:t>“Maximizing section throughput through AI-powered, real-time train traffic control.”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9F0FA"/>
                </a:solidFill>
                <a:latin typeface="Segoe UI"/>
              </a:rPr>
              <a:t>Complementary to Kavach: Kavach is the safety-certified anti-collision floor; Pravaah is the throughput-and-explainability layer above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2D37A"/>
                </a:solidFill>
                <a:latin typeface="Consolas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9F0FA"/>
                </a:solidFill>
                <a:latin typeface="Segoe UI"/>
              </a:rPr>
              <a:t>Built to be inspected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E9F0FA"/>
                </a:solidFill>
                <a:latin typeface="Segoe UI"/>
              </a:rPr>
              <a:t>React 18 + TypeScript + Vite + Tailwind + SVG. Bundled fonts → fully offline.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2D37A"/>
                </a:solidFill>
                <a:latin typeface="Segoe UI"/>
              </a:rPr>
              <a:t>12 passing tests: safety invariants, deadlock-freedom, optimizer-beats-FCFS, the safety refusal.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9AB0CF"/>
                </a:solidFill>
                <a:latin typeface="Segoe UI"/>
              </a:rPr>
              <a:t>Real Indian station names &amp; coordinates from the open datameet/railways dataset (CC0).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9AB0CF"/>
                </a:solidFill>
                <a:latin typeface="Segoe UI"/>
              </a:rPr>
              <a:t>One command to run: npm install &amp;&amp; npm run dev.</a:t>
            </a:r>
          </a:p>
        </p:txBody>
      </p:sp>
      <p:pic>
        <p:nvPicPr>
          <p:cNvPr id="6" name="Picture 5" descr="disru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023360"/>
            <a:ext cx="4937760" cy="207012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E9F0FA"/>
                </a:solidFill>
                <a:latin typeface="Segoe UI"/>
              </a:rPr>
              <a:t>Pravaah · प्रवाह</a:t>
            </a:r>
          </a:p>
          <a:p>
            <a:pPr algn="l">
              <a:spcAft>
                <a:spcPts val="1800"/>
              </a:spcAft>
            </a:pPr>
            <a:r>
              <a:rPr sz="2200" b="1">
                <a:solidFill>
                  <a:srgbClr val="22D37A"/>
                </a:solidFill>
                <a:latin typeface="Segoe UI"/>
              </a:rPr>
              <a:t>Open. Explainable. Safe by construction. The control-room brain Indian Railways doesn't have yet.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9AB0CF"/>
                </a:solidFill>
                <a:latin typeface="Segoe UI"/>
              </a:rPr>
              <a:t>Honest scope: a decision-support prototype — complementary to, not a replacement for, India's safety-certified train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B0CF"/>
                </a:solidFill>
                <a:latin typeface="Consolas"/>
              </a:rPr>
              <a:t>github.com/garvitsurana271/pravaah   ·   FAR AWAY 2026   ·   Railways   ·   SIH25022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